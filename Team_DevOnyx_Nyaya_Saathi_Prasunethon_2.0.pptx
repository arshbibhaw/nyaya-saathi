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rebuchet MS Bold" charset="1" panose="020B0703020202020204"/>
      <p:regular r:id="rId15"/>
    </p:embeddedFont>
    <p:embeddedFont>
      <p:font typeface="Trebuchet MS" charset="1" panose="020B0603020202020204"/>
      <p:regular r:id="rId16"/>
    </p:embeddedFont>
    <p:embeddedFont>
      <p:font typeface="Arimo" charset="1" panose="020B0604020202020204"/>
      <p:regular r:id="rId17"/>
    </p:embeddedFont>
    <p:embeddedFont>
      <p:font typeface="Petrona Bold" charset="1" panose="00000000000000000000"/>
      <p:regular r:id="rId18"/>
    </p:embeddedFont>
    <p:embeddedFont>
      <p:font typeface="Inter" charset="1" panose="02000503000000020004"/>
      <p:regular r:id="rId19"/>
    </p:embeddedFont>
    <p:embeddedFont>
      <p:font typeface="Arial Bold" charset="1" panose="020B0704020202020204"/>
      <p:regular r:id="rId20"/>
    </p:embeddedFont>
    <p:embeddedFont>
      <p:font typeface="IBM Plex Serif" charset="1" panose="02060503050406000203"/>
      <p:regular r:id="rId21"/>
    </p:embeddedFont>
    <p:embeddedFont>
      <p:font typeface="Source Serif Pro" charset="1" panose="02040603050405020204"/>
      <p:regular r:id="rId22"/>
    </p:embeddedFont>
    <p:embeddedFont>
      <p:font typeface="Source Serif Pro Italics" charset="1" panose="02040603050405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linkedin.com/in/aakarsh-bibhaw-368a7b323?lipi=urn%3Ali%3Apage%3Ad_flagship3_profile_view_base_contact_details%3BuTt7e7MNQh2OE4U23hO4RA%3D%3D" TargetMode="External" Type="http://schemas.openxmlformats.org/officeDocument/2006/relationships/hyperlink"/><Relationship Id="rId3" Target="https://www.linkedin.com/in/megh-kakadiya-04ab83311?lipi=urn%3Ali%3Apage%3Ad_flagship3_profile_view_base_contact_details%3BpRg110VDROyZ8ELDFxodrg%3D%3D" TargetMode="External" Type="http://schemas.openxmlformats.org/officeDocument/2006/relationships/hyperlink"/><Relationship Id="rId4" Target="https://www.linkedin.com/in/arsite?lipi=urn%3Ali%3Apage%3Ad_flagship3_profile_view_base_contact_details%3BBxM5tHXvTEiFtKA8O%2B%2B%2FqA%3D%3D" TargetMode="External" Type="http://schemas.openxmlformats.org/officeDocument/2006/relationships/hyperlink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390775" y="6802120"/>
          <a:ext cx="13506450" cy="2700338"/>
        </p:xfrm>
        <a:graphic>
          <a:graphicData uri="http://schemas.openxmlformats.org/drawingml/2006/table">
            <a:tbl>
              <a:tblPr/>
              <a:tblGrid>
                <a:gridCol w="888316"/>
                <a:gridCol w="4946048"/>
                <a:gridCol w="4295473"/>
                <a:gridCol w="3376613"/>
              </a:tblGrid>
              <a:tr h="6106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272525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S.no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2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272525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Name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2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272525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Email 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2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272525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LinkedIn Link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2E9"/>
                    </a:solidFill>
                  </a:tcPr>
                </a:tc>
              </a:tr>
              <a:tr h="6965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7252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Aakarsh Bibhaw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cse.arsh@gmail.com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u="sng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2" tooltip="https://www.linkedin.com/in/aakarsh-bibhaw-368a7b323?lipi=urn%3Ali%3Apage%3Ad_flagship3_profile_view_base_contact_details%3BuTt7e7MNQh2OE4U23hO4RA%3D%3D"/>
                        </a:rPr>
                        <a:t>LinkedIn Profile Link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6965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7252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-US" sz="2700">
                          <a:solidFill>
                            <a:srgbClr val="27252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Kakadiya Megh Vipulbhai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kakadiyamegh@gmail.com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u="sng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3" tooltip="https://www.linkedin.com/in/megh-kakadiya-04ab83311?lipi=urn%3Ali%3Apage%3Ad_flagship3_profile_view_base_contact_details%3BpRg110VDROyZ8ELDFxodrg%3D%3D"/>
                        </a:rPr>
                        <a:t>LinkedIn Profile Link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6965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27252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r>
                        <a:rPr lang="en-US" sz="2700">
                          <a:solidFill>
                            <a:srgbClr val="272525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Rohit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techop.rohit@gmail.com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u="sng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4" tooltip="https://www.linkedin.com/in/arsite?lipi=urn%3Ali%3Apage%3Ad_flagship3_profile_view_base_contact_details%3BBxM5tHXvTEiFtKA8O%2B%2B%2FqA%3D%3D"/>
                        </a:rPr>
                        <a:t>LinkedIn Profile Link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0"/>
            <a:ext cx="1949640" cy="1269965"/>
          </a:xfrm>
          <a:custGeom>
            <a:avLst/>
            <a:gdLst/>
            <a:ahLst/>
            <a:cxnLst/>
            <a:rect r="r" b="b" t="t" l="l"/>
            <a:pathLst>
              <a:path h="1269965" w="1949640">
                <a:moveTo>
                  <a:pt x="0" y="0"/>
                </a:moveTo>
                <a:lnTo>
                  <a:pt x="1949640" y="0"/>
                </a:lnTo>
                <a:lnTo>
                  <a:pt x="1949640" y="1269965"/>
                </a:lnTo>
                <a:lnTo>
                  <a:pt x="0" y="1269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594" r="0" b="-2992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52909" y="2598967"/>
            <a:ext cx="7696914" cy="133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8"/>
              </a:lnSpc>
            </a:pPr>
            <a:r>
              <a:rPr lang="en-US" b="true" sz="8556" spc="-172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NYAYA SAATHI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44623"/>
            <a:ext cx="16315868" cy="57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b="true" sz="3377" spc="-69">
                <a:solidFill>
                  <a:srgbClr val="545454"/>
                </a:solidFill>
                <a:latin typeface="Petrona Bold"/>
                <a:ea typeface="Petrona Bold"/>
                <a:cs typeface="Petrona Bold"/>
                <a:sym typeface="Petrona Bold"/>
              </a:rPr>
              <a:t>From Legal Confusion to Clear Action.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8523" y="4381281"/>
            <a:ext cx="17230954" cy="32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501" spc="-3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AI-assisted legal navigation for citizens — bridging the gap between legal complexity and actionable guidance.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193436" y="5143500"/>
            <a:ext cx="7986395" cy="1353820"/>
            <a:chOff x="0" y="0"/>
            <a:chExt cx="10648527" cy="180509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648569" cy="1805051"/>
            </a:xfrm>
            <a:custGeom>
              <a:avLst/>
              <a:gdLst/>
              <a:ahLst/>
              <a:cxnLst/>
              <a:rect r="r" b="b" t="t" l="l"/>
              <a:pathLst>
                <a:path h="1805051" w="10648569">
                  <a:moveTo>
                    <a:pt x="0" y="0"/>
                  </a:moveTo>
                  <a:lnTo>
                    <a:pt x="10648569" y="0"/>
                  </a:lnTo>
                  <a:lnTo>
                    <a:pt x="10648569" y="1805051"/>
                  </a:lnTo>
                  <a:lnTo>
                    <a:pt x="0" y="1805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365288" y="5510848"/>
            <a:ext cx="58132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TEAM INFORMATION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46993" y="990600"/>
            <a:ext cx="9994013" cy="133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8"/>
              </a:lnSpc>
            </a:pPr>
            <a:r>
              <a:rPr lang="en-US" sz="8556" spc="-172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PRASUNETHON</a:t>
            </a:r>
            <a:r>
              <a:rPr lang="en-US" sz="8556" spc="-172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2.0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49646"/>
            <a:ext cx="16303523" cy="86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19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NYAYA SAATHI : AI Legal Assistant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12872" y="2116636"/>
            <a:ext cx="12262247" cy="5181895"/>
            <a:chOff x="0" y="0"/>
            <a:chExt cx="16349662" cy="690919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349599" cy="6909181"/>
            </a:xfrm>
            <a:custGeom>
              <a:avLst/>
              <a:gdLst/>
              <a:ahLst/>
              <a:cxnLst/>
              <a:rect r="r" b="b" t="t" l="l"/>
              <a:pathLst>
                <a:path h="6909181" w="16349599">
                  <a:moveTo>
                    <a:pt x="0" y="0"/>
                  </a:moveTo>
                  <a:lnTo>
                    <a:pt x="16349599" y="0"/>
                  </a:lnTo>
                  <a:lnTo>
                    <a:pt x="16349599" y="6909181"/>
                  </a:lnTo>
                  <a:lnTo>
                    <a:pt x="0" y="6909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7578776"/>
            <a:ext cx="16303523" cy="1920326"/>
            <a:chOff x="0" y="0"/>
            <a:chExt cx="21738031" cy="25604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82" cy="2560447"/>
            </a:xfrm>
            <a:custGeom>
              <a:avLst/>
              <a:gdLst/>
              <a:ahLst/>
              <a:cxnLst/>
              <a:rect r="r" b="b" t="t" l="l"/>
              <a:pathLst>
                <a:path h="2560447" w="21738082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21684869" y="0"/>
                  </a:lnTo>
                  <a:cubicBezTo>
                    <a:pt x="21714206" y="0"/>
                    <a:pt x="21738082" y="23749"/>
                    <a:pt x="21738082" y="53213"/>
                  </a:cubicBezTo>
                  <a:lnTo>
                    <a:pt x="21738082" y="2507234"/>
                  </a:lnTo>
                  <a:cubicBezTo>
                    <a:pt x="21738082" y="2536571"/>
                    <a:pt x="21714333" y="2560447"/>
                    <a:pt x="21684869" y="2560447"/>
                  </a:cubicBezTo>
                  <a:lnTo>
                    <a:pt x="53213" y="2560447"/>
                  </a:lnTo>
                  <a:cubicBezTo>
                    <a:pt x="23876" y="2560447"/>
                    <a:pt x="0" y="2536698"/>
                    <a:pt x="0" y="2507234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238" y="7578776"/>
            <a:ext cx="5434460" cy="1920326"/>
            <a:chOff x="0" y="0"/>
            <a:chExt cx="7245947" cy="25604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5985" cy="2560447"/>
            </a:xfrm>
            <a:custGeom>
              <a:avLst/>
              <a:gdLst/>
              <a:ahLst/>
              <a:cxnLst/>
              <a:rect r="r" b="b" t="t" l="l"/>
              <a:pathLst>
                <a:path h="2560447" w="7245985">
                  <a:moveTo>
                    <a:pt x="44323" y="0"/>
                  </a:moveTo>
                  <a:lnTo>
                    <a:pt x="7245985" y="0"/>
                  </a:lnTo>
                  <a:lnTo>
                    <a:pt x="7245985" y="2560447"/>
                  </a:lnTo>
                  <a:lnTo>
                    <a:pt x="44323" y="2560447"/>
                  </a:lnTo>
                  <a:cubicBezTo>
                    <a:pt x="19812" y="2560447"/>
                    <a:pt x="0" y="2540635"/>
                    <a:pt x="0" y="2516124"/>
                  </a:cubicBezTo>
                  <a:lnTo>
                    <a:pt x="0" y="44323"/>
                  </a:lnTo>
                  <a:cubicBezTo>
                    <a:pt x="0" y="19812"/>
                    <a:pt x="19812" y="0"/>
                    <a:pt x="44323" y="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8043" y="7816005"/>
            <a:ext cx="4902841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Simplify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043" y="8342709"/>
            <a:ext cx="4902841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Complex legal issues into actionable steps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26698" y="7578776"/>
            <a:ext cx="5434460" cy="1920326"/>
            <a:chOff x="0" y="0"/>
            <a:chExt cx="7245947" cy="25604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45985" cy="2560447"/>
            </a:xfrm>
            <a:custGeom>
              <a:avLst/>
              <a:gdLst/>
              <a:ahLst/>
              <a:cxnLst/>
              <a:rect r="r" b="b" t="t" l="l"/>
              <a:pathLst>
                <a:path h="2560447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2560447"/>
                  </a:lnTo>
                  <a:lnTo>
                    <a:pt x="0" y="2560447"/>
                  </a:ln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26698" y="7578776"/>
            <a:ext cx="28575" cy="1920326"/>
            <a:chOff x="0" y="0"/>
            <a:chExt cx="38100" cy="25604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2560447"/>
            </a:xfrm>
            <a:custGeom>
              <a:avLst/>
              <a:gdLst/>
              <a:ahLst/>
              <a:cxnLst/>
              <a:rect r="r" b="b" t="t" l="l"/>
              <a:pathLst>
                <a:path h="256044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541397"/>
                  </a:lnTo>
                  <a:cubicBezTo>
                    <a:pt x="38100" y="2551938"/>
                    <a:pt x="29591" y="2560447"/>
                    <a:pt x="19050" y="2560447"/>
                  </a:cubicBezTo>
                  <a:cubicBezTo>
                    <a:pt x="8509" y="2560447"/>
                    <a:pt x="0" y="2551938"/>
                    <a:pt x="0" y="254139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92503" y="7816005"/>
            <a:ext cx="4902841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Bridge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92503" y="8342709"/>
            <a:ext cx="4902841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gap between citizens and justice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61159" y="7578776"/>
            <a:ext cx="5434460" cy="1920326"/>
            <a:chOff x="0" y="0"/>
            <a:chExt cx="7245947" cy="25604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45985" cy="2560447"/>
            </a:xfrm>
            <a:custGeom>
              <a:avLst/>
              <a:gdLst/>
              <a:ahLst/>
              <a:cxnLst/>
              <a:rect r="r" b="b" t="t" l="l"/>
              <a:pathLst>
                <a:path h="2560447" w="7245985">
                  <a:moveTo>
                    <a:pt x="0" y="0"/>
                  </a:moveTo>
                  <a:lnTo>
                    <a:pt x="7201662" y="0"/>
                  </a:lnTo>
                  <a:cubicBezTo>
                    <a:pt x="7226173" y="0"/>
                    <a:pt x="7245985" y="19812"/>
                    <a:pt x="7245985" y="44323"/>
                  </a:cubicBezTo>
                  <a:lnTo>
                    <a:pt x="7245985" y="2516124"/>
                  </a:lnTo>
                  <a:cubicBezTo>
                    <a:pt x="7245985" y="2540635"/>
                    <a:pt x="7226173" y="2560447"/>
                    <a:pt x="7201662" y="2560447"/>
                  </a:cubicBezTo>
                  <a:lnTo>
                    <a:pt x="0" y="2560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61159" y="7578776"/>
            <a:ext cx="28575" cy="1920326"/>
            <a:chOff x="0" y="0"/>
            <a:chExt cx="38100" cy="25604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" cy="2560447"/>
            </a:xfrm>
            <a:custGeom>
              <a:avLst/>
              <a:gdLst/>
              <a:ahLst/>
              <a:cxnLst/>
              <a:rect r="r" b="b" t="t" l="l"/>
              <a:pathLst>
                <a:path h="256044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541397"/>
                  </a:lnTo>
                  <a:cubicBezTo>
                    <a:pt x="38100" y="2551938"/>
                    <a:pt x="29591" y="2560447"/>
                    <a:pt x="19050" y="2560447"/>
                  </a:cubicBezTo>
                  <a:cubicBezTo>
                    <a:pt x="8509" y="2560447"/>
                    <a:pt x="0" y="2551938"/>
                    <a:pt x="0" y="254139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126963" y="7816005"/>
            <a:ext cx="4902841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Verify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26963" y="8342709"/>
            <a:ext cx="4902841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AI-assisted, human-verified guidance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807771"/>
            <a:ext cx="5936304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The Legal Help Access Gap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5955802"/>
            <a:ext cx="1955749" cy="430711"/>
            <a:chOff x="0" y="0"/>
            <a:chExt cx="2607666" cy="5742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07691" cy="574294"/>
            </a:xfrm>
            <a:custGeom>
              <a:avLst/>
              <a:gdLst/>
              <a:ahLst/>
              <a:cxnLst/>
              <a:rect r="r" b="b" t="t" l="l"/>
              <a:pathLst>
                <a:path h="574294" w="260769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562352" y="0"/>
                  </a:lnTo>
                  <a:cubicBezTo>
                    <a:pt x="2587371" y="0"/>
                    <a:pt x="2607691" y="20320"/>
                    <a:pt x="2607691" y="45339"/>
                  </a:cubicBezTo>
                  <a:lnTo>
                    <a:pt x="2607691" y="528955"/>
                  </a:lnTo>
                  <a:cubicBezTo>
                    <a:pt x="2607691" y="553974"/>
                    <a:pt x="2587371" y="574294"/>
                    <a:pt x="2562352" y="574294"/>
                  </a:cubicBezTo>
                  <a:lnTo>
                    <a:pt x="45339" y="574294"/>
                  </a:lnTo>
                  <a:cubicBezTo>
                    <a:pt x="20320" y="574294"/>
                    <a:pt x="0" y="553974"/>
                    <a:pt x="0" y="528955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2345" y="6050309"/>
            <a:ext cx="252992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PROBLEM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56027" y="1397946"/>
            <a:ext cx="9422902" cy="7490965"/>
            <a:chOff x="0" y="0"/>
            <a:chExt cx="12563869" cy="99879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2563856" cy="9987915"/>
            </a:xfrm>
            <a:custGeom>
              <a:avLst/>
              <a:gdLst/>
              <a:ahLst/>
              <a:cxnLst/>
              <a:rect r="r" b="b" t="t" l="l"/>
              <a:pathLst>
                <a:path h="9987915" w="12563856">
                  <a:moveTo>
                    <a:pt x="0" y="0"/>
                  </a:moveTo>
                  <a:lnTo>
                    <a:pt x="12563856" y="0"/>
                  </a:lnTo>
                  <a:lnTo>
                    <a:pt x="12563856" y="9987915"/>
                  </a:lnTo>
                  <a:lnTo>
                    <a:pt x="0" y="9987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193454"/>
            <a:ext cx="1494234" cy="440236"/>
            <a:chOff x="0" y="0"/>
            <a:chExt cx="1992312" cy="5869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2249" cy="586994"/>
            </a:xfrm>
            <a:custGeom>
              <a:avLst/>
              <a:gdLst/>
              <a:ahLst/>
              <a:cxnLst/>
              <a:rect r="r" b="b" t="t" l="l"/>
              <a:pathLst>
                <a:path h="586994" w="1992249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1945894" y="0"/>
                  </a:lnTo>
                  <a:cubicBezTo>
                    <a:pt x="1971548" y="0"/>
                    <a:pt x="1992249" y="20701"/>
                    <a:pt x="1992249" y="46355"/>
                  </a:cubicBezTo>
                  <a:lnTo>
                    <a:pt x="1992249" y="540639"/>
                  </a:lnTo>
                  <a:cubicBezTo>
                    <a:pt x="1992249" y="566293"/>
                    <a:pt x="1971548" y="586994"/>
                    <a:pt x="1945894" y="586994"/>
                  </a:cubicBezTo>
                  <a:lnTo>
                    <a:pt x="46355" y="586994"/>
                  </a:lnTo>
                  <a:cubicBezTo>
                    <a:pt x="20701" y="586994"/>
                    <a:pt x="0" y="566166"/>
                    <a:pt x="0" y="540639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35" r="-3" b="-16132"/>
              </a:stretch>
            </a:blipFill>
            <a:ln w="9526" cap="sq">
              <a:solidFill>
                <a:srgbClr val="3E251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292723"/>
            <a:ext cx="205888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3E251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694707"/>
            <a:ext cx="16303523" cy="57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33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How Nyaya Saathi Guides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699147"/>
            <a:ext cx="567033" cy="354359"/>
            <a:chOff x="0" y="0"/>
            <a:chExt cx="756044" cy="4724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2238" y="3142955"/>
            <a:ext cx="8009934" cy="38100"/>
            <a:chOff x="0" y="0"/>
            <a:chExt cx="10679913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2238" y="3332264"/>
            <a:ext cx="800993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Describe Your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3888134"/>
            <a:ext cx="800993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Submit your legal issue in plain language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5684" y="2699147"/>
            <a:ext cx="567033" cy="354359"/>
            <a:chOff x="0" y="0"/>
            <a:chExt cx="756044" cy="4724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85684" y="3142955"/>
            <a:ext cx="8010077" cy="38100"/>
            <a:chOff x="0" y="0"/>
            <a:chExt cx="10680103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285684" y="3332264"/>
            <a:ext cx="80100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AI Understands and Classifies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5684" y="3888134"/>
            <a:ext cx="801007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NLP identifies the legal category and relevant laws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4923530"/>
            <a:ext cx="567033" cy="354359"/>
            <a:chOff x="0" y="0"/>
            <a:chExt cx="756044" cy="4724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2238" y="5367338"/>
            <a:ext cx="8009934" cy="38100"/>
            <a:chOff x="0" y="0"/>
            <a:chExt cx="10679913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92238" y="5556647"/>
            <a:ext cx="800993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Retrieve Verified Legal Info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238" y="6112516"/>
            <a:ext cx="800993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RAG system pulls applicable statutes and precedents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5684" y="4923530"/>
            <a:ext cx="567033" cy="354359"/>
            <a:chOff x="0" y="0"/>
            <a:chExt cx="756044" cy="4724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85684" y="5367338"/>
            <a:ext cx="8010077" cy="38100"/>
            <a:chOff x="0" y="0"/>
            <a:chExt cx="10680103" cy="50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285684" y="5556647"/>
            <a:ext cx="80100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Analyze Your Evidence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85684" y="6112516"/>
            <a:ext cx="801007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 extracts and organizes documents you provide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92238" y="7147922"/>
            <a:ext cx="567033" cy="354359"/>
            <a:chOff x="0" y="0"/>
            <a:chExt cx="756044" cy="47247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2238" y="7591720"/>
            <a:ext cx="8009934" cy="38100"/>
            <a:chOff x="0" y="0"/>
            <a:chExt cx="10679913" cy="50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92238" y="7781030"/>
            <a:ext cx="800993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Generate Action Plan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2238" y="8336909"/>
            <a:ext cx="800993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Step-by-step guidance with document drafts and next steps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285684" y="7147922"/>
            <a:ext cx="567033" cy="354359"/>
            <a:chOff x="0" y="0"/>
            <a:chExt cx="756044" cy="4724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6048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8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756044" cy="491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85684" y="7591720"/>
            <a:ext cx="8010077" cy="38100"/>
            <a:chOff x="0" y="0"/>
            <a:chExt cx="10680103" cy="50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285684" y="7781030"/>
            <a:ext cx="80100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Human Legal Assistance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285684" y="8336909"/>
            <a:ext cx="801007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Connect with lawyers when you need expert judgment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140171"/>
            <a:ext cx="2358028" cy="403774"/>
            <a:chOff x="0" y="0"/>
            <a:chExt cx="3144037" cy="538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4012" cy="538353"/>
            </a:xfrm>
            <a:custGeom>
              <a:avLst/>
              <a:gdLst/>
              <a:ahLst/>
              <a:cxnLst/>
              <a:rect r="r" b="b" t="t" l="l"/>
              <a:pathLst>
                <a:path h="538353" w="3144012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3101467" y="0"/>
                  </a:lnTo>
                  <a:cubicBezTo>
                    <a:pt x="3124962" y="0"/>
                    <a:pt x="3144012" y="19050"/>
                    <a:pt x="3144012" y="42545"/>
                  </a:cubicBezTo>
                  <a:lnTo>
                    <a:pt x="3144012" y="495808"/>
                  </a:lnTo>
                  <a:cubicBezTo>
                    <a:pt x="3144012" y="519303"/>
                    <a:pt x="3124962" y="538353"/>
                    <a:pt x="3101467" y="538353"/>
                  </a:cubicBezTo>
                  <a:lnTo>
                    <a:pt x="42545" y="538353"/>
                  </a:lnTo>
                  <a:cubicBezTo>
                    <a:pt x="19050" y="538353"/>
                    <a:pt x="0" y="519303"/>
                    <a:pt x="0" y="495808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1630" y="1229325"/>
            <a:ext cx="2953645" cy="23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3"/>
              </a:lnSpc>
            </a:pPr>
            <a:r>
              <a:rPr lang="en-US" sz="15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CORE FRAMEWORK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605410"/>
            <a:ext cx="7488441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Five Layers of Assistance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588266"/>
            <a:ext cx="3619652" cy="2020043"/>
            <a:chOff x="0" y="0"/>
            <a:chExt cx="4826203" cy="2693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6254" cy="2693416"/>
            </a:xfrm>
            <a:custGeom>
              <a:avLst/>
              <a:gdLst/>
              <a:ahLst/>
              <a:cxnLst/>
              <a:rect r="r" b="b" t="t" l="l"/>
              <a:pathLst>
                <a:path h="2693416" w="4826254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4773041" y="0"/>
                  </a:lnTo>
                  <a:cubicBezTo>
                    <a:pt x="4802378" y="0"/>
                    <a:pt x="4826254" y="23749"/>
                    <a:pt x="4826254" y="53213"/>
                  </a:cubicBezTo>
                  <a:lnTo>
                    <a:pt x="4826254" y="2640203"/>
                  </a:lnTo>
                  <a:cubicBezTo>
                    <a:pt x="4826254" y="2669540"/>
                    <a:pt x="4802505" y="2693416"/>
                    <a:pt x="4773041" y="2693416"/>
                  </a:cubicBezTo>
                  <a:lnTo>
                    <a:pt x="53213" y="2693416"/>
                  </a:lnTo>
                  <a:cubicBezTo>
                    <a:pt x="23876" y="2693416"/>
                    <a:pt x="0" y="2669667"/>
                    <a:pt x="0" y="2640203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58043" y="2825506"/>
            <a:ext cx="3088034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Understand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8043" y="3451917"/>
            <a:ext cx="3088034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 analyzes citizen legal issues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861027" y="2588266"/>
            <a:ext cx="3619652" cy="2020043"/>
            <a:chOff x="0" y="0"/>
            <a:chExt cx="4826203" cy="2693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254" cy="2693416"/>
            </a:xfrm>
            <a:custGeom>
              <a:avLst/>
              <a:gdLst/>
              <a:ahLst/>
              <a:cxnLst/>
              <a:rect r="r" b="b" t="t" l="l"/>
              <a:pathLst>
                <a:path h="2693416" w="4826254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4773041" y="0"/>
                  </a:lnTo>
                  <a:cubicBezTo>
                    <a:pt x="4802378" y="0"/>
                    <a:pt x="4826254" y="23749"/>
                    <a:pt x="4826254" y="53213"/>
                  </a:cubicBezTo>
                  <a:lnTo>
                    <a:pt x="4826254" y="2640203"/>
                  </a:lnTo>
                  <a:cubicBezTo>
                    <a:pt x="4826254" y="2669540"/>
                    <a:pt x="4802505" y="2693416"/>
                    <a:pt x="4773041" y="2693416"/>
                  </a:cubicBezTo>
                  <a:lnTo>
                    <a:pt x="53213" y="2693416"/>
                  </a:lnTo>
                  <a:cubicBezTo>
                    <a:pt x="23876" y="2693416"/>
                    <a:pt x="0" y="2669667"/>
                    <a:pt x="0" y="2640203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126831" y="2825506"/>
            <a:ext cx="3088034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Retrieve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6831" y="3451917"/>
            <a:ext cx="3088034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Curated legal database, laws, and statutes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4857455"/>
            <a:ext cx="3619652" cy="2431999"/>
            <a:chOff x="0" y="0"/>
            <a:chExt cx="4826203" cy="32426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26127" cy="3242564"/>
            </a:xfrm>
            <a:custGeom>
              <a:avLst/>
              <a:gdLst/>
              <a:ahLst/>
              <a:cxnLst/>
              <a:rect r="r" b="b" t="t" l="l"/>
              <a:pathLst>
                <a:path h="3242564" w="4826127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4773041" y="0"/>
                  </a:lnTo>
                  <a:cubicBezTo>
                    <a:pt x="4802378" y="0"/>
                    <a:pt x="4826127" y="23749"/>
                    <a:pt x="4826127" y="53086"/>
                  </a:cubicBezTo>
                  <a:lnTo>
                    <a:pt x="4826127" y="3189478"/>
                  </a:lnTo>
                  <a:cubicBezTo>
                    <a:pt x="4826127" y="3218815"/>
                    <a:pt x="4802378" y="3242564"/>
                    <a:pt x="4773041" y="3242564"/>
                  </a:cubicBezTo>
                  <a:lnTo>
                    <a:pt x="53086" y="3242564"/>
                  </a:lnTo>
                  <a:cubicBezTo>
                    <a:pt x="23749" y="3242564"/>
                    <a:pt x="0" y="3218815"/>
                    <a:pt x="0" y="3189478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58043" y="5094684"/>
            <a:ext cx="3088034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Analyze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043" y="5721106"/>
            <a:ext cx="3088034" cy="130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Extract and organize user-provided documents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861027" y="4857455"/>
            <a:ext cx="3619652" cy="2431999"/>
            <a:chOff x="0" y="0"/>
            <a:chExt cx="4826203" cy="32426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26127" cy="3242564"/>
            </a:xfrm>
            <a:custGeom>
              <a:avLst/>
              <a:gdLst/>
              <a:ahLst/>
              <a:cxnLst/>
              <a:rect r="r" b="b" t="t" l="l"/>
              <a:pathLst>
                <a:path h="3242564" w="4826127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4773041" y="0"/>
                  </a:lnTo>
                  <a:cubicBezTo>
                    <a:pt x="4802378" y="0"/>
                    <a:pt x="4826127" y="23749"/>
                    <a:pt x="4826127" y="53086"/>
                  </a:cubicBezTo>
                  <a:lnTo>
                    <a:pt x="4826127" y="3189478"/>
                  </a:lnTo>
                  <a:cubicBezTo>
                    <a:pt x="4826127" y="3218815"/>
                    <a:pt x="4802378" y="3242564"/>
                    <a:pt x="4773041" y="3242564"/>
                  </a:cubicBezTo>
                  <a:lnTo>
                    <a:pt x="53086" y="3242564"/>
                  </a:lnTo>
                  <a:cubicBezTo>
                    <a:pt x="23749" y="3242564"/>
                    <a:pt x="0" y="3218815"/>
                    <a:pt x="0" y="3189478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126831" y="5094684"/>
            <a:ext cx="3088034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Plan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26831" y="5721106"/>
            <a:ext cx="3088034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Step-by-step procedural guidance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7538590"/>
            <a:ext cx="7488441" cy="1608087"/>
            <a:chOff x="0" y="0"/>
            <a:chExt cx="9984588" cy="21441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84613" cy="2144141"/>
            </a:xfrm>
            <a:custGeom>
              <a:avLst/>
              <a:gdLst/>
              <a:ahLst/>
              <a:cxnLst/>
              <a:rect r="r" b="b" t="t" l="l"/>
              <a:pathLst>
                <a:path h="2144141" w="9984613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9931400" y="0"/>
                  </a:lnTo>
                  <a:cubicBezTo>
                    <a:pt x="9960737" y="0"/>
                    <a:pt x="9984613" y="23749"/>
                    <a:pt x="9984613" y="53213"/>
                  </a:cubicBezTo>
                  <a:lnTo>
                    <a:pt x="9984613" y="2090928"/>
                  </a:lnTo>
                  <a:cubicBezTo>
                    <a:pt x="9984613" y="2120265"/>
                    <a:pt x="9960864" y="2144141"/>
                    <a:pt x="9931400" y="2144141"/>
                  </a:cubicBezTo>
                  <a:lnTo>
                    <a:pt x="53213" y="2144141"/>
                  </a:lnTo>
                  <a:cubicBezTo>
                    <a:pt x="23876" y="2144141"/>
                    <a:pt x="0" y="2120392"/>
                    <a:pt x="0" y="2090928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58043" y="7775819"/>
            <a:ext cx="6956822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Draft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043" y="8402241"/>
            <a:ext cx="6956822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AI-generated legal templates and case materials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04159" y="2647350"/>
            <a:ext cx="7435158" cy="4992138"/>
            <a:chOff x="0" y="0"/>
            <a:chExt cx="9913544" cy="6656184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9913493" cy="6656197"/>
            </a:xfrm>
            <a:custGeom>
              <a:avLst/>
              <a:gdLst/>
              <a:ahLst/>
              <a:cxnLst/>
              <a:rect r="r" b="b" t="t" l="l"/>
              <a:pathLst>
                <a:path h="6656197" w="9913493">
                  <a:moveTo>
                    <a:pt x="0" y="0"/>
                  </a:moveTo>
                  <a:lnTo>
                    <a:pt x="9913493" y="0"/>
                  </a:lnTo>
                  <a:lnTo>
                    <a:pt x="9913493" y="6656197"/>
                  </a:lnTo>
                  <a:lnTo>
                    <a:pt x="0" y="6656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028700"/>
            <a:ext cx="1514323" cy="383677"/>
            <a:chOff x="0" y="0"/>
            <a:chExt cx="2019097" cy="5115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9046" cy="511556"/>
            </a:xfrm>
            <a:custGeom>
              <a:avLst/>
              <a:gdLst/>
              <a:ahLst/>
              <a:cxnLst/>
              <a:rect r="r" b="b" t="t" l="l"/>
              <a:pathLst>
                <a:path h="511556" w="2019046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1978660" y="0"/>
                  </a:lnTo>
                  <a:cubicBezTo>
                    <a:pt x="2001012" y="0"/>
                    <a:pt x="2019046" y="18034"/>
                    <a:pt x="2019046" y="40386"/>
                  </a:cubicBezTo>
                  <a:lnTo>
                    <a:pt x="2019046" y="471170"/>
                  </a:lnTo>
                  <a:cubicBezTo>
                    <a:pt x="2019046" y="493522"/>
                    <a:pt x="2001012" y="511556"/>
                    <a:pt x="1978660" y="511556"/>
                  </a:cubicBezTo>
                  <a:lnTo>
                    <a:pt x="40386" y="511556"/>
                  </a:lnTo>
                  <a:cubicBezTo>
                    <a:pt x="18034" y="511556"/>
                    <a:pt x="0" y="493522"/>
                    <a:pt x="0" y="471170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743" y="1113977"/>
            <a:ext cx="2125713" cy="22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73698"/>
            <a:ext cx="16303523" cy="50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From Question to Action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312937"/>
            <a:ext cx="504977" cy="315516"/>
            <a:chOff x="0" y="0"/>
            <a:chExt cx="673303" cy="4206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2238" y="2713434"/>
            <a:ext cx="3907184" cy="28575"/>
            <a:chOff x="0" y="0"/>
            <a:chExt cx="5209578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09540" cy="38100"/>
            </a:xfrm>
            <a:custGeom>
              <a:avLst/>
              <a:gdLst/>
              <a:ahLst/>
              <a:cxnLst/>
              <a:rect r="r" b="b" t="t" l="l"/>
              <a:pathLst>
                <a:path h="38100" w="5209540">
                  <a:moveTo>
                    <a:pt x="0" y="0"/>
                  </a:moveTo>
                  <a:lnTo>
                    <a:pt x="5209540" y="0"/>
                  </a:lnTo>
                  <a:lnTo>
                    <a:pt x="52095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2238" y="2877741"/>
            <a:ext cx="3907184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INPUT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3378546"/>
            <a:ext cx="3907184" cy="81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Text, voice, PDF, or image submission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124298" y="2312937"/>
            <a:ext cx="504977" cy="315516"/>
            <a:chOff x="0" y="0"/>
            <a:chExt cx="673303" cy="42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4298" y="2713434"/>
            <a:ext cx="3907184" cy="28575"/>
            <a:chOff x="0" y="0"/>
            <a:chExt cx="5209578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09540" cy="38100"/>
            </a:xfrm>
            <a:custGeom>
              <a:avLst/>
              <a:gdLst/>
              <a:ahLst/>
              <a:cxnLst/>
              <a:rect r="r" b="b" t="t" l="l"/>
              <a:pathLst>
                <a:path h="38100" w="5209540">
                  <a:moveTo>
                    <a:pt x="0" y="0"/>
                  </a:moveTo>
                  <a:lnTo>
                    <a:pt x="5209540" y="0"/>
                  </a:lnTo>
                  <a:lnTo>
                    <a:pt x="52095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124298" y="2877741"/>
            <a:ext cx="3907184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AI PROCESSING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4298" y="3378546"/>
            <a:ext cx="3907184" cy="81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NLP, OCR, legal issue classification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6366" y="2312937"/>
            <a:ext cx="504977" cy="315516"/>
            <a:chOff x="0" y="0"/>
            <a:chExt cx="673303" cy="4206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56366" y="2713434"/>
            <a:ext cx="3907184" cy="28575"/>
            <a:chOff x="0" y="0"/>
            <a:chExt cx="5209578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09540" cy="38100"/>
            </a:xfrm>
            <a:custGeom>
              <a:avLst/>
              <a:gdLst/>
              <a:ahLst/>
              <a:cxnLst/>
              <a:rect r="r" b="b" t="t" l="l"/>
              <a:pathLst>
                <a:path h="38100" w="5209540">
                  <a:moveTo>
                    <a:pt x="0" y="0"/>
                  </a:moveTo>
                  <a:lnTo>
                    <a:pt x="5209540" y="0"/>
                  </a:lnTo>
                  <a:lnTo>
                    <a:pt x="52095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256366" y="2877741"/>
            <a:ext cx="3907184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LEGAL INTELLIGENCE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56366" y="3378546"/>
            <a:ext cx="3907184" cy="81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RAG retrieves laws, matches precedents, ranks results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388426" y="2312937"/>
            <a:ext cx="504977" cy="315516"/>
            <a:chOff x="0" y="0"/>
            <a:chExt cx="673303" cy="4206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3299" cy="420688"/>
            </a:xfrm>
            <a:custGeom>
              <a:avLst/>
              <a:gdLst/>
              <a:ahLst/>
              <a:cxnLst/>
              <a:rect r="r" b="b" t="t" l="l"/>
              <a:pathLst>
                <a:path h="420688" w="673299">
                  <a:moveTo>
                    <a:pt x="0" y="0"/>
                  </a:moveTo>
                  <a:lnTo>
                    <a:pt x="673299" y="0"/>
                  </a:lnTo>
                  <a:lnTo>
                    <a:pt x="673299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5" t="0" r="-3016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73303" cy="43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388426" y="2713434"/>
            <a:ext cx="3907336" cy="28575"/>
            <a:chOff x="0" y="0"/>
            <a:chExt cx="5209781" cy="38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09794" cy="38100"/>
            </a:xfrm>
            <a:custGeom>
              <a:avLst/>
              <a:gdLst/>
              <a:ahLst/>
              <a:cxnLst/>
              <a:rect r="r" b="b" t="t" l="l"/>
              <a:pathLst>
                <a:path h="38100" w="5209794">
                  <a:moveTo>
                    <a:pt x="0" y="0"/>
                  </a:moveTo>
                  <a:lnTo>
                    <a:pt x="5209794" y="0"/>
                  </a:lnTo>
                  <a:lnTo>
                    <a:pt x="52097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388426" y="2877741"/>
            <a:ext cx="3907336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PERSONALIZED OUTPUT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88426" y="3378546"/>
            <a:ext cx="3907336" cy="81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Explanation, evidence checklist, action plan, document drafts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052117" y="4632274"/>
            <a:ext cx="8183613" cy="3991127"/>
            <a:chOff x="0" y="0"/>
            <a:chExt cx="10911484" cy="5321503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0911459" cy="5321554"/>
            </a:xfrm>
            <a:custGeom>
              <a:avLst/>
              <a:gdLst/>
              <a:ahLst/>
              <a:cxnLst/>
              <a:rect r="r" b="b" t="t" l="l"/>
              <a:pathLst>
                <a:path h="5321554" w="10911459">
                  <a:moveTo>
                    <a:pt x="0" y="0"/>
                  </a:moveTo>
                  <a:lnTo>
                    <a:pt x="10911459" y="0"/>
                  </a:lnTo>
                  <a:lnTo>
                    <a:pt x="10911459" y="5321554"/>
                  </a:lnTo>
                  <a:lnTo>
                    <a:pt x="0" y="5321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9" r="0" b="-6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953466"/>
            <a:ext cx="2120503" cy="430711"/>
            <a:chOff x="0" y="0"/>
            <a:chExt cx="2827338" cy="5742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27274" cy="574294"/>
            </a:xfrm>
            <a:custGeom>
              <a:avLst/>
              <a:gdLst/>
              <a:ahLst/>
              <a:cxnLst/>
              <a:rect r="r" b="b" t="t" l="l"/>
              <a:pathLst>
                <a:path h="574294" w="2827274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781935" y="0"/>
                  </a:lnTo>
                  <a:cubicBezTo>
                    <a:pt x="2806954" y="0"/>
                    <a:pt x="2827274" y="20320"/>
                    <a:pt x="2827274" y="45339"/>
                  </a:cubicBezTo>
                  <a:lnTo>
                    <a:pt x="2827274" y="528955"/>
                  </a:lnTo>
                  <a:cubicBezTo>
                    <a:pt x="2827274" y="553974"/>
                    <a:pt x="2806954" y="574294"/>
                    <a:pt x="2781935" y="574294"/>
                  </a:cubicBezTo>
                  <a:lnTo>
                    <a:pt x="45339" y="574294"/>
                  </a:lnTo>
                  <a:cubicBezTo>
                    <a:pt x="20320" y="574294"/>
                    <a:pt x="0" y="553974"/>
                    <a:pt x="0" y="528955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4047973"/>
            <a:ext cx="2694680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459491"/>
            <a:ext cx="5426421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Technology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404094"/>
            <a:ext cx="542642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i="true">
                <a:solidFill>
                  <a:srgbClr val="504C49"/>
                </a:solidFill>
                <a:latin typeface="Source Serif Pro Italics"/>
                <a:ea typeface="Source Serif Pro Italics"/>
                <a:cs typeface="Source Serif Pro Italics"/>
                <a:sym typeface="Source Serif Pro Italics"/>
              </a:rPr>
              <a:t>Built for accuracy, transparency, and seamless human escalation.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19938" y="1742484"/>
            <a:ext cx="10185206" cy="6801888"/>
            <a:chOff x="0" y="0"/>
            <a:chExt cx="13580275" cy="906918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3580238" cy="9069197"/>
            </a:xfrm>
            <a:custGeom>
              <a:avLst/>
              <a:gdLst/>
              <a:ahLst/>
              <a:cxnLst/>
              <a:rect r="r" b="b" t="t" l="l"/>
              <a:pathLst>
                <a:path h="9069197" w="13580238">
                  <a:moveTo>
                    <a:pt x="0" y="0"/>
                  </a:moveTo>
                  <a:lnTo>
                    <a:pt x="13580238" y="0"/>
                  </a:lnTo>
                  <a:lnTo>
                    <a:pt x="13580238" y="9069197"/>
                  </a:lnTo>
                  <a:lnTo>
                    <a:pt x="0" y="9069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" r="0" b="-3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405680"/>
            <a:ext cx="2411463" cy="430711"/>
            <a:chOff x="0" y="0"/>
            <a:chExt cx="3215284" cy="5742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5259" cy="574294"/>
            </a:xfrm>
            <a:custGeom>
              <a:avLst/>
              <a:gdLst/>
              <a:ahLst/>
              <a:cxnLst/>
              <a:rect r="r" b="b" t="t" l="l"/>
              <a:pathLst>
                <a:path h="574294" w="321525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169920" y="0"/>
                  </a:lnTo>
                  <a:cubicBezTo>
                    <a:pt x="3194939" y="0"/>
                    <a:pt x="3215259" y="20320"/>
                    <a:pt x="3215259" y="45339"/>
                  </a:cubicBezTo>
                  <a:lnTo>
                    <a:pt x="3215259" y="528955"/>
                  </a:lnTo>
                  <a:cubicBezTo>
                    <a:pt x="3215259" y="553974"/>
                    <a:pt x="3194939" y="574294"/>
                    <a:pt x="3169920" y="574294"/>
                  </a:cubicBezTo>
                  <a:lnTo>
                    <a:pt x="45339" y="574294"/>
                  </a:lnTo>
                  <a:cubicBezTo>
                    <a:pt x="20320" y="574294"/>
                    <a:pt x="0" y="553974"/>
                    <a:pt x="0" y="528955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500187"/>
            <a:ext cx="2985640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DIFFERENTIATION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911696"/>
            <a:ext cx="16303523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Why Nyaya Saathi Wins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083719"/>
            <a:ext cx="3033865" cy="3891115"/>
            <a:chOff x="0" y="0"/>
            <a:chExt cx="4045153" cy="51881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45204" cy="5188204"/>
            </a:xfrm>
            <a:custGeom>
              <a:avLst/>
              <a:gdLst/>
              <a:ahLst/>
              <a:cxnLst/>
              <a:rect r="r" b="b" t="t" l="l"/>
              <a:pathLst>
                <a:path h="5188204" w="404520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988435" y="0"/>
                  </a:lnTo>
                  <a:cubicBezTo>
                    <a:pt x="4019804" y="0"/>
                    <a:pt x="4045204" y="25400"/>
                    <a:pt x="4045204" y="56769"/>
                  </a:cubicBezTo>
                  <a:lnTo>
                    <a:pt x="4045204" y="5131435"/>
                  </a:lnTo>
                  <a:cubicBezTo>
                    <a:pt x="4045204" y="5162804"/>
                    <a:pt x="4019804" y="5188204"/>
                    <a:pt x="3988435" y="5188204"/>
                  </a:cubicBezTo>
                  <a:lnTo>
                    <a:pt x="56769" y="5188204"/>
                  </a:lnTo>
                  <a:cubicBezTo>
                    <a:pt x="25400" y="5188204"/>
                    <a:pt x="0" y="5162804"/>
                    <a:pt x="0" y="51314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5750" y="3338665"/>
            <a:ext cx="246682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Action-Oriented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0" y="4337447"/>
            <a:ext cx="246682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Personalized next steps and procedures, not just information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09615" y="3083719"/>
            <a:ext cx="3033865" cy="3891115"/>
            <a:chOff x="0" y="0"/>
            <a:chExt cx="4045153" cy="51881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45204" cy="5188204"/>
            </a:xfrm>
            <a:custGeom>
              <a:avLst/>
              <a:gdLst/>
              <a:ahLst/>
              <a:cxnLst/>
              <a:rect r="r" b="b" t="t" l="l"/>
              <a:pathLst>
                <a:path h="5188204" w="404520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988435" y="0"/>
                  </a:lnTo>
                  <a:cubicBezTo>
                    <a:pt x="4019804" y="0"/>
                    <a:pt x="4045204" y="25400"/>
                    <a:pt x="4045204" y="56769"/>
                  </a:cubicBezTo>
                  <a:lnTo>
                    <a:pt x="4045204" y="5131435"/>
                  </a:lnTo>
                  <a:cubicBezTo>
                    <a:pt x="4045204" y="5162804"/>
                    <a:pt x="4019804" y="5188204"/>
                    <a:pt x="3988435" y="5188204"/>
                  </a:cubicBezTo>
                  <a:lnTo>
                    <a:pt x="56769" y="5188204"/>
                  </a:lnTo>
                  <a:cubicBezTo>
                    <a:pt x="25400" y="5188204"/>
                    <a:pt x="0" y="5162804"/>
                    <a:pt x="0" y="51314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593136" y="3338665"/>
            <a:ext cx="246682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Document Drafting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93136" y="4337447"/>
            <a:ext cx="246682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AI generates templates and case materials automatically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26991" y="3083719"/>
            <a:ext cx="3033865" cy="3891115"/>
            <a:chOff x="0" y="0"/>
            <a:chExt cx="4045153" cy="51881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45204" cy="5188204"/>
            </a:xfrm>
            <a:custGeom>
              <a:avLst/>
              <a:gdLst/>
              <a:ahLst/>
              <a:cxnLst/>
              <a:rect r="r" b="b" t="t" l="l"/>
              <a:pathLst>
                <a:path h="5188204" w="404520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988435" y="0"/>
                  </a:lnTo>
                  <a:cubicBezTo>
                    <a:pt x="4019804" y="0"/>
                    <a:pt x="4045204" y="25400"/>
                    <a:pt x="4045204" y="56769"/>
                  </a:cubicBezTo>
                  <a:lnTo>
                    <a:pt x="4045204" y="5131435"/>
                  </a:lnTo>
                  <a:cubicBezTo>
                    <a:pt x="4045204" y="5162804"/>
                    <a:pt x="4019804" y="5188204"/>
                    <a:pt x="3988435" y="5188204"/>
                  </a:cubicBezTo>
                  <a:lnTo>
                    <a:pt x="56769" y="5188204"/>
                  </a:lnTo>
                  <a:cubicBezTo>
                    <a:pt x="25400" y="5188204"/>
                    <a:pt x="0" y="5162804"/>
                    <a:pt x="0" y="51314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910512" y="3338665"/>
            <a:ext cx="246682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Structured Case Info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10512" y="4337447"/>
            <a:ext cx="2466823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Organized evidence and clear procedural roadmap from day one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944377" y="3083719"/>
            <a:ext cx="3033865" cy="3891115"/>
            <a:chOff x="0" y="0"/>
            <a:chExt cx="4045153" cy="51881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45204" cy="5188204"/>
            </a:xfrm>
            <a:custGeom>
              <a:avLst/>
              <a:gdLst/>
              <a:ahLst/>
              <a:cxnLst/>
              <a:rect r="r" b="b" t="t" l="l"/>
              <a:pathLst>
                <a:path h="5188204" w="404520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988435" y="0"/>
                  </a:lnTo>
                  <a:cubicBezTo>
                    <a:pt x="4019804" y="0"/>
                    <a:pt x="4045204" y="25400"/>
                    <a:pt x="4045204" y="56769"/>
                  </a:cubicBezTo>
                  <a:lnTo>
                    <a:pt x="4045204" y="5131435"/>
                  </a:lnTo>
                  <a:cubicBezTo>
                    <a:pt x="4045204" y="5162804"/>
                    <a:pt x="4019804" y="5188204"/>
                    <a:pt x="3988435" y="5188204"/>
                  </a:cubicBezTo>
                  <a:lnTo>
                    <a:pt x="56769" y="5188204"/>
                  </a:lnTo>
                  <a:cubicBezTo>
                    <a:pt x="25400" y="5188204"/>
                    <a:pt x="0" y="5162804"/>
                    <a:pt x="0" y="51314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227889" y="3338665"/>
            <a:ext cx="2466823" cy="135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Reduced Cognitive Load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27889" y="4780359"/>
            <a:ext cx="246682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Citizens don't have to interpret law or figure out what to do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261754" y="3083719"/>
            <a:ext cx="3034008" cy="3891115"/>
            <a:chOff x="0" y="0"/>
            <a:chExt cx="4045344" cy="51881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45458" cy="5188204"/>
            </a:xfrm>
            <a:custGeom>
              <a:avLst/>
              <a:gdLst/>
              <a:ahLst/>
              <a:cxnLst/>
              <a:rect r="r" b="b" t="t" l="l"/>
              <a:pathLst>
                <a:path h="5188204" w="404545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3988689" y="0"/>
                  </a:lnTo>
                  <a:cubicBezTo>
                    <a:pt x="4020058" y="0"/>
                    <a:pt x="4045458" y="25400"/>
                    <a:pt x="4045458" y="56769"/>
                  </a:cubicBezTo>
                  <a:lnTo>
                    <a:pt x="4045458" y="5131435"/>
                  </a:lnTo>
                  <a:cubicBezTo>
                    <a:pt x="4045458" y="5162804"/>
                    <a:pt x="4020058" y="5188204"/>
                    <a:pt x="3988689" y="5188204"/>
                  </a:cubicBezTo>
                  <a:lnTo>
                    <a:pt x="56769" y="5188204"/>
                  </a:lnTo>
                  <a:cubicBezTo>
                    <a:pt x="25400" y="5188204"/>
                    <a:pt x="0" y="5162804"/>
                    <a:pt x="0" y="5131435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545266" y="3338665"/>
            <a:ext cx="246697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Human Backup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45266" y="4337447"/>
            <a:ext cx="2466975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Lawyers available when judgment calls matter most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92238" y="7293769"/>
            <a:ext cx="16303523" cy="1587551"/>
            <a:chOff x="0" y="0"/>
            <a:chExt cx="21738031" cy="21167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738081" cy="2116836"/>
            </a:xfrm>
            <a:custGeom>
              <a:avLst/>
              <a:gdLst/>
              <a:ahLst/>
              <a:cxnLst/>
              <a:rect r="r" b="b" t="t" l="l"/>
              <a:pathLst>
                <a:path h="2116836" w="2173808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5400"/>
                    <a:pt x="21738081" y="56769"/>
                  </a:cubicBezTo>
                  <a:lnTo>
                    <a:pt x="21738081" y="2060067"/>
                  </a:lnTo>
                  <a:cubicBezTo>
                    <a:pt x="21738081" y="2091436"/>
                    <a:pt x="21712681" y="2116836"/>
                    <a:pt x="21681312" y="2116836"/>
                  </a:cubicBezTo>
                  <a:lnTo>
                    <a:pt x="56769" y="2116836"/>
                  </a:lnTo>
                  <a:cubicBezTo>
                    <a:pt x="25400" y="2116836"/>
                    <a:pt x="0" y="2091436"/>
                    <a:pt x="0" y="2060067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75750" y="7695305"/>
            <a:ext cx="354359" cy="283521"/>
            <a:chOff x="0" y="0"/>
            <a:chExt cx="472478" cy="378028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72" t="0" r="-680" b="1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913630" y="7562402"/>
            <a:ext cx="150986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Versus traditional legal search: manual interpretation, high cognitive burden, scattered information, no procedural guidance.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599107"/>
            <a:ext cx="1123798" cy="430711"/>
            <a:chOff x="0" y="0"/>
            <a:chExt cx="1498397" cy="5742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8346" cy="574294"/>
            </a:xfrm>
            <a:custGeom>
              <a:avLst/>
              <a:gdLst/>
              <a:ahLst/>
              <a:cxnLst/>
              <a:rect r="r" b="b" t="t" l="l"/>
              <a:pathLst>
                <a:path h="574294" w="149834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453007" y="0"/>
                  </a:lnTo>
                  <a:cubicBezTo>
                    <a:pt x="1478026" y="0"/>
                    <a:pt x="1498346" y="20320"/>
                    <a:pt x="1498346" y="45339"/>
                  </a:cubicBezTo>
                  <a:lnTo>
                    <a:pt x="1498346" y="528955"/>
                  </a:lnTo>
                  <a:cubicBezTo>
                    <a:pt x="1498346" y="553974"/>
                    <a:pt x="1478026" y="574294"/>
                    <a:pt x="1453007" y="574294"/>
                  </a:cubicBezTo>
                  <a:lnTo>
                    <a:pt x="45339" y="574294"/>
                  </a:lnTo>
                  <a:cubicBezTo>
                    <a:pt x="20320" y="574294"/>
                    <a:pt x="0" y="553974"/>
                    <a:pt x="0" y="528955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3693614"/>
            <a:ext cx="1697984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105123"/>
            <a:ext cx="6786115" cy="145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Roadmap: Legal Navigator to Ecosystem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758453"/>
            <a:ext cx="678611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i="true">
                <a:solidFill>
                  <a:srgbClr val="504C49"/>
                </a:solidFill>
                <a:latin typeface="Source Serif Pro Italics"/>
                <a:ea typeface="Source Serif Pro Italics"/>
                <a:cs typeface="Source Serif Pro Italics"/>
                <a:sym typeface="Source Serif Pro Italics"/>
              </a:rPr>
              <a:t>From core navigator to a connected legal access ecosystem serving millions.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479631" y="2127199"/>
            <a:ext cx="8825513" cy="6032449"/>
            <a:chOff x="0" y="0"/>
            <a:chExt cx="11767350" cy="804326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767312" cy="8043291"/>
            </a:xfrm>
            <a:custGeom>
              <a:avLst/>
              <a:gdLst/>
              <a:ahLst/>
              <a:cxnLst/>
              <a:rect r="r" b="b" t="t" l="l"/>
              <a:pathLst>
                <a:path h="8043291" w="11767312">
                  <a:moveTo>
                    <a:pt x="0" y="0"/>
                  </a:moveTo>
                  <a:lnTo>
                    <a:pt x="11767312" y="0"/>
                  </a:lnTo>
                  <a:lnTo>
                    <a:pt x="11767312" y="8043291"/>
                  </a:lnTo>
                  <a:lnTo>
                    <a:pt x="0" y="8043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DAHSpfI7GVM</dc:identifier>
  <dcterms:modified xsi:type="dcterms:W3CDTF">2011-08-01T06:04:30Z</dcterms:modified>
  <cp:revision>1</cp:revision>
  <dc:title>Prasunethon 2.0</dc:title>
</cp:coreProperties>
</file>